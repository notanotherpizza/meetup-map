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New groups per hour</c:v>
                </c:pt>
              </c:strCache>
            </c:strRef>
          </c:tx>
          <c:spPr>
            <a:solidFill>
              <a:srgbClr val="5FF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Sheet1!$A$2:$A$24</c:f>
              <c:multiLvlStrCache>
                <c:ptCount val="23"/>
                <c:lvl>
                  <c:pt idx="0">
                    <c:v>11</c:v>
                  </c:pt>
                  <c:pt idx="1">
                    <c:v>12</c:v>
                  </c:pt>
                  <c:pt idx="2">
                    <c:v>13</c:v>
                  </c:pt>
                  <c:pt idx="3">
                    <c:v>14</c:v>
                  </c:pt>
                  <c:pt idx="4">
                    <c:v>15</c:v>
                  </c:pt>
                  <c:pt idx="5">
                    <c:v>16</c:v>
                  </c:pt>
                  <c:pt idx="6">
                    <c:v>17</c:v>
                  </c:pt>
                  <c:pt idx="7">
                    <c:v>18</c:v>
                  </c:pt>
                  <c:pt idx="8">
                    <c:v>19</c:v>
                  </c:pt>
                  <c:pt idx="9">
                    <c:v>20</c:v>
                  </c:pt>
                  <c:pt idx="10">
                    <c:v>21</c:v>
                  </c:pt>
                  <c:pt idx="11">
                    <c:v>22</c:v>
                  </c:pt>
                  <c:pt idx="12">
                    <c:v>23</c:v>
                  </c:pt>
                  <c:pt idx="13">
                    <c:v>00</c:v>
                  </c:pt>
                  <c:pt idx="14">
                    <c:v>01</c:v>
                  </c:pt>
                  <c:pt idx="15">
                    <c:v>02</c:v>
                  </c:pt>
                  <c:pt idx="16">
                    <c:v>03</c:v>
                  </c:pt>
                  <c:pt idx="17">
                    <c:v>04</c:v>
                  </c:pt>
                  <c:pt idx="18">
                    <c:v>05</c:v>
                  </c:pt>
                  <c:pt idx="19">
                    <c:v>06</c:v>
                  </c:pt>
                  <c:pt idx="20">
                    <c:v>07</c:v>
                  </c:pt>
                  <c:pt idx="21">
                    <c:v>08</c:v>
                  </c:pt>
                  <c:pt idx="22">
                    <c:v>09</c:v>
                  </c:pt>
                </c:lvl>
              </c:multiLvlStrCache>
            </c:multiLvlStrRef>
          </c:cat>
          <c:val>
            <c:numRef>
              <c:f>Sheet1!$B$2:$B$24</c:f>
              <c:numCache>
                <c:formatCode>General</c:formatCode>
                <c:ptCount val="23"/>
                <c:pt idx="0">
                  <c:v>470</c:v>
                </c:pt>
                <c:pt idx="1">
                  <c:v>933</c:v>
                </c:pt>
                <c:pt idx="2">
                  <c:v>970</c:v>
                </c:pt>
                <c:pt idx="3">
                  <c:v>916</c:v>
                </c:pt>
                <c:pt idx="4">
                  <c:v>952</c:v>
                </c:pt>
                <c:pt idx="5">
                  <c:v>1200</c:v>
                </c:pt>
                <c:pt idx="6">
                  <c:v>1172</c:v>
                </c:pt>
                <c:pt idx="7">
                  <c:v>1133</c:v>
                </c:pt>
                <c:pt idx="8">
                  <c:v>1138</c:v>
                </c:pt>
                <c:pt idx="9">
                  <c:v>1113</c:v>
                </c:pt>
                <c:pt idx="10">
                  <c:v>1153</c:v>
                </c:pt>
                <c:pt idx="11">
                  <c:v>1152</c:v>
                </c:pt>
                <c:pt idx="12">
                  <c:v>1160</c:v>
                </c:pt>
                <c:pt idx="13">
                  <c:v>1222</c:v>
                </c:pt>
                <c:pt idx="14">
                  <c:v>1279</c:v>
                </c:pt>
                <c:pt idx="15">
                  <c:v>1127</c:v>
                </c:pt>
                <c:pt idx="16">
                  <c:v>1033</c:v>
                </c:pt>
                <c:pt idx="17">
                  <c:v>1133</c:v>
                </c:pt>
                <c:pt idx="18">
                  <c:v>1180</c:v>
                </c:pt>
                <c:pt idx="19">
                  <c:v>1152</c:v>
                </c:pt>
                <c:pt idx="20">
                  <c:v>1145</c:v>
                </c:pt>
                <c:pt idx="21">
                  <c:v>1173</c:v>
                </c:pt>
                <c:pt idx="22">
                  <c:v>1120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D9098"/>
                </a:solidFill>
                <a:latin typeface="Geist Mono"/>
              </a:defRPr>
            </a:pPr>
            <a:endParaRPr lang="en-US"/>
          </a:p>
        </c:txPr>
        <c:crossAx val="2094734552"/>
        <c:crosses val="autoZero"/>
        <c:auto val="1"/>
        <c:lblAlgn val="ctr"/>
        <c:noMultiLvlLbl val="1"/>
      </c:catAx>
      <c:valAx>
        <c:axId val="2094734552"/>
        <c:scaling>
          <c:orientation val="minMax"/>
          <c:max val="1400"/>
          <c:min val="0"/>
        </c:scaling>
        <c:delete val="0"/>
        <c:axPos val="l"/>
        <c:majorGridlines>
          <c:spPr>
            <a:ln w="9525" cap="flat">
              <a:solidFill>
                <a:srgbClr val="22252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D9098"/>
                </a:solidFill>
                <a:latin typeface="Geist Mono"/>
              </a:defRPr>
            </a:pPr>
            <a:endParaRPr lang="en-US"/>
          </a:p>
        </c:txPr>
        <c:crossAx val="2094734554"/>
        <c:crosses val="autoZero"/>
        <c:crossBetween val="between"/>
        <c:majorUnit val="4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far I've told you a lot of rules. Prompt, then skill, then script, then a deployable system. That's all a bit abstract, so here's a real one.
Hugh built this thing called Not Another Pizza. It's a search index of community meetups, tens of thousands of them. And we used it to try out my whole theory: script the boring bits, and only bring in an agent for the one bit that needs a brain.
Nine slides, about twelve minutes. If I'm running long, I'll skip the two little script videos.
[Fits: straight after the Script slide, before "Skip the line". If your running order changes, it works anywhere after the prompt, skill, script idea has landed. If the videos don't play after import, upload the three mp4s to Drive and use Insert, Video, Google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bit nobody noticed. The index thought it knew about forty three thousand groups. It had actually scraped fifteen. Sixty four percent of them had never been looked at.
And you'd never know. Every search still gives you something back. It looks fine. That's the "you don't know what you're missing" slide from earlier, except now it's real.
Imagine putting a model on top of that. It would answer you with total confidence from about a third of the picture.
[Fits: this is the "you'll need a datastore" point in real life. Numbers are from the 7th of October. The screenshot is the live site before the fix: 15,442 groups, and "kafka" finds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find the gap? Do we ask a model? No. It's two lists. You take the groups we know about, you take what's in the index, and you subtract one from the other.
A tenth of a second. Zero tokens. And it gives you the same answer on the thousandth run.
Which is the answer to my "why can't I just ask?" slide. You can. You really shouldn't.
[Video is three seconds and silent. Read the numbers out loud: 43,425 listed, 15,442 in the index, 27,981 never scraped, tokens used zero. Fits right after your "Why can't I just ask" slide, or alongside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where I'd actually pay for an agent. We've got twenty eight thousand missing groups. Which do we scrape first? Is this a React Native community or a book club? That's a judgement call. A script can't make it.
So we gave an agent exactly two tools. Look at a group. Write down a priority. That's it. It can't scrape, it can't write to the database, it can't touch the queue.
Watch the counter. That's the stove. Twenty five groups, seven cents. About a third of a cent a group.
Four of them came out priority one. And I'll be straight with you: nobody has checked whether those picks are right. They're examples, not a result.
[Video is fifty three seconds, silent. Fits with the "Don't leave the stove on" and "Continuous Iteration Trap" slides. Model is Claude Haiku 4.5 through the Aiven AI gateway, which meters usage per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we go straight back to a script. The agent hands over a list. A script turns that list into a queue and moves the good ones to the front.
The agent decides. Code does the work. If the agent's wrong, the worst thing that happens is a group gets scraped a bit later. That's your "enough access to do the job and no more" slide, just out in the wild.
[Fits with the Access slide in the governance section. This is the easiest one to cut if you're short on time. The first script video already makes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on the iteration trap slide I said: run it once, run it weekly, run it a thousand times? Here's that table.
The script costs nothing. Every time. The agent is seven cents for twenty five groups. A thousand runs of that is about seventy four dollars. Triaging the whole backlog is about eighty two.
So it's not really agent versus script. It's: which step actually needs to think, and how often are you going to ask it to?
[Honest caveats: this is list price, from a twenty five group sample, stretched out. The Aiven AI gateway shows the real metered cost per key, so swap that number in if it's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Fixing the actual bug was boring. The scraper was working through an old list in file order, and it never got to the new groups. So we changed it to ask the database what it already had, do the unseen ones first, then the stalest.
We put it on an Aiven App, next to Aiven Postgres, and left it running. Seventeen thousand groups to forty two thousand in a day. About eleven hundred an hour, dead steady.
That's the whole point of the deployable system slide. The state lives in the database, so a restart doesn't lose your place.
[Fits with Deployable System and Aiven Runtimes. If you want proof on the slide, add a screenshot of the Aiven console showing the batch app logs, something like "n of 43,419". The first bar is partial because the scraper started halfway through that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site. Same search. Same code. The only thing that changed is the data. "Data engineering" went from ten results to thirty three.
Not everything grew, mind. "Python and London" gave one result before and one after. More data doesn't mean more of everything. But it's the difference between a search that's guessing and one that actually knows.
Which is why I keep going on about data.
[Fits right before the Shoutouts slide, so the thank you to Hugh Evans and search.notanother.pizza lands as the payoff. Figures: groups 15,442 to 40,550, events 829,236 to 2,029,657. The site updates once a day, so it lags the database a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of the block, and it's the honest one. We measured what the agent cost. We did not measure whether it was right.
Those four priority one groups are examples, not a result. The cost is a twenty five group sample at list price, stretched out. And our first fix for the Luma scraper was wrong. It read past events from a page that actually shows upcoming ones, so it labelled future events as past. It looked right until we checked the dates.
So: measure cost, measure quality. Otherwise you pay for retries, and retries are where the money goes.
[Then straight into the "how can companies leverage AI post-hype" section. Luma facts if asked: 746 of 765 Luma groups now have real past events, 37,233 in total, none with a future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7-image-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8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544050" y="-254000"/>
            <a:ext cx="3282950" cy="7366000"/>
          </a:xfrm>
          <a:prstGeom prst="rect">
            <a:avLst/>
          </a:prstGeom>
        </p:spPr>
      </p:pic>
      <p:pic>
        <p:nvPicPr>
          <p:cNvPr id="3" name="Image 1" descr="preencoded.png">    </p:cNvPr>
          <p:cNvPicPr>
            <a:picLocks noChangeAspect="1"/>
          </p:cNvPicPr>
          <p:nvPr/>
        </p:nvPicPr>
        <p:blipFill>
          <a:blip r:embed="rId2"/>
          <a:stretch>
            <a:fillRect/>
          </a:stretch>
        </p:blipFill>
        <p:spPr>
          <a:xfrm>
            <a:off x="1270000" y="4572000"/>
            <a:ext cx="1333500" cy="2794000"/>
          </a:xfrm>
          <a:prstGeom prst="rect">
            <a:avLst/>
          </a:prstGeom>
        </p:spPr>
      </p:pic>
      <p:sp>
        <p:nvSpPr>
          <p:cNvPr id="4" name="Text 0"/>
          <p:cNvSpPr txBox="1"/>
          <p:nvPr/>
        </p:nvSpPr>
        <p:spPr>
          <a:xfrm>
            <a:off x="635000" y="240665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CASE STUDY</a:t>
            </a:r>
            <a:endParaRPr lang="en-US" sz="1350" dirty="0"/>
          </a:p>
        </p:txBody>
      </p:sp>
      <p:sp>
        <p:nvSpPr>
          <p:cNvPr id="5" name="Text 1"/>
          <p:cNvSpPr txBox="1"/>
          <p:nvPr/>
        </p:nvSpPr>
        <p:spPr>
          <a:xfrm>
            <a:off x="635000" y="2698750"/>
            <a:ext cx="6985000" cy="1016000"/>
          </a:xfrm>
          <a:prstGeom prst="rect">
            <a:avLst/>
          </a:prstGeom>
          <a:noFill/>
          <a:ln/>
        </p:spPr>
        <p:txBody>
          <a:bodyPr wrap="square" lIns="0" tIns="0" rIns="0" bIns="0" rtlCol="0" anchor="t"/>
          <a:lstStyle/>
          <a:p>
            <a:pPr indent="0" marL="0">
              <a:lnSpc>
                <a:spcPct val="100000"/>
              </a:lnSpc>
              <a:buNone/>
            </a:pPr>
            <a:r>
              <a:rPr lang="en-US" sz="6000" dirty="0">
                <a:solidFill>
                  <a:srgbClr val="FFFFFF"/>
                </a:solidFill>
                <a:latin typeface="Funnel Display ExtraBold" pitchFamily="34" charset="0"/>
                <a:ea typeface="Funnel Display ExtraBold" pitchFamily="34" charset="-122"/>
                <a:cs typeface="Funnel Display ExtraBold" pitchFamily="34" charset="-120"/>
              </a:rPr>
              <a:t>NOT ANOTHER</a:t>
            </a:r>
            <a:endParaRPr lang="en-US" sz="6000" dirty="0"/>
          </a:p>
          <a:p>
            <a:pPr indent="0" marL="0">
              <a:lnSpc>
                <a:spcPct val="100000"/>
              </a:lnSpc>
              <a:buNone/>
            </a:pPr>
            <a:r>
              <a:rPr lang="en-US" sz="6000" dirty="0">
                <a:solidFill>
                  <a:srgbClr val="FFFFFF"/>
                </a:solidFill>
                <a:latin typeface="Funnel Display ExtraBold" pitchFamily="34" charset="0"/>
                <a:ea typeface="Funnel Display ExtraBold" pitchFamily="34" charset="-122"/>
                <a:cs typeface="Funnel Display ExtraBold" pitchFamily="34" charset="-120"/>
              </a:rPr>
              <a:t>PIZZA</a:t>
            </a:r>
            <a:endParaRPr lang="en-US" sz="6000" dirty="0"/>
          </a:p>
        </p:txBody>
      </p:sp>
      <p:sp>
        <p:nvSpPr>
          <p:cNvPr id="6" name="Text 2"/>
          <p:cNvSpPr txBox="1"/>
          <p:nvPr/>
        </p:nvSpPr>
        <p:spPr>
          <a:xfrm>
            <a:off x="635000" y="3917950"/>
            <a:ext cx="6350000" cy="571500"/>
          </a:xfrm>
          <a:prstGeom prst="rect">
            <a:avLst/>
          </a:prstGeom>
          <a:noFill/>
          <a:ln/>
        </p:spPr>
        <p:txBody>
          <a:bodyPr wrap="square" lIns="0" tIns="0" rIns="0" bIns="0" rtlCol="0" anchor="t"/>
          <a:lstStyle/>
          <a:p>
            <a:pPr indent="0" marL="0">
              <a:buNone/>
            </a:pPr>
            <a:r>
              <a:rPr lang="en-US" sz="2250" dirty="0">
                <a:solidFill>
                  <a:srgbClr val="FFFFFF"/>
                </a:solidFill>
                <a:latin typeface="Inter" pitchFamily="34" charset="0"/>
                <a:ea typeface="Inter" pitchFamily="34" charset="-122"/>
                <a:cs typeface="Inter" pitchFamily="34" charset="-120"/>
              </a:rPr>
              <a:t>A script for the boring parts.</a:t>
            </a:r>
            <a:endParaRPr lang="en-US" sz="2250" dirty="0"/>
          </a:p>
          <a:p>
            <a:pPr indent="0" marL="0">
              <a:buNone/>
            </a:pPr>
            <a:r>
              <a:rPr lang="en-US" sz="2250" dirty="0">
                <a:solidFill>
                  <a:srgbClr val="FFFFFF"/>
                </a:solidFill>
                <a:latin typeface="Inter" pitchFamily="34" charset="0"/>
                <a:ea typeface="Inter" pitchFamily="34" charset="-122"/>
                <a:cs typeface="Inter" pitchFamily="34" charset="-120"/>
              </a:rPr>
              <a:t>An agent for the judgement.</a:t>
            </a:r>
            <a:endParaRPr lang="en-US" sz="2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PROBLEM</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64% OF THE INDEX WAS MISSING</a:t>
            </a:r>
            <a:endParaRPr lang="en-US" sz="4200" dirty="0"/>
          </a:p>
        </p:txBody>
      </p:sp>
      <p:sp>
        <p:nvSpPr>
          <p:cNvPr id="4" name="Text 2"/>
          <p:cNvSpPr txBox="1"/>
          <p:nvPr/>
        </p:nvSpPr>
        <p:spPr>
          <a:xfrm>
            <a:off x="635000" y="1587500"/>
            <a:ext cx="4445000" cy="1371600"/>
          </a:xfrm>
          <a:prstGeom prst="rect">
            <a:avLst/>
          </a:prstGeom>
          <a:noFill/>
          <a:ln/>
        </p:spPr>
        <p:txBody>
          <a:bodyPr wrap="square" lIns="0" tIns="0" rIns="0" bIns="0" rtlCol="0" anchor="t"/>
          <a:lstStyle/>
          <a:p>
            <a:pPr indent="0" marL="0">
              <a:buNone/>
            </a:pPr>
            <a:r>
              <a:rPr lang="en-US" sz="18000" dirty="0">
                <a:solidFill>
                  <a:srgbClr val="5FFA74"/>
                </a:solidFill>
                <a:latin typeface="Funnel Display ExtraBold" pitchFamily="34" charset="0"/>
                <a:ea typeface="Funnel Display ExtraBold" pitchFamily="34" charset="-122"/>
                <a:cs typeface="Funnel Display ExtraBold" pitchFamily="34" charset="-120"/>
              </a:rPr>
              <a:t>64%</a:t>
            </a:r>
            <a:endParaRPr lang="en-US" sz="18000" dirty="0"/>
          </a:p>
        </p:txBody>
      </p:sp>
      <p:sp>
        <p:nvSpPr>
          <p:cNvPr id="5" name="Text 3"/>
          <p:cNvSpPr txBox="1"/>
          <p:nvPr/>
        </p:nvSpPr>
        <p:spPr>
          <a:xfrm>
            <a:off x="635000" y="3162300"/>
            <a:ext cx="4445000" cy="952500"/>
          </a:xfrm>
          <a:prstGeom prst="rect">
            <a:avLst/>
          </a:prstGeom>
          <a:noFill/>
          <a:ln/>
        </p:spPr>
        <p:txBody>
          <a:bodyPr wrap="square" lIns="0" tIns="0" rIns="0" bIns="0" rtlCol="0" anchor="t"/>
          <a:lstStyle/>
          <a:p>
            <a:pPr indent="0" marL="0">
              <a:buNone/>
            </a:pPr>
            <a:r>
              <a:rPr lang="en-US" sz="2250" dirty="0">
                <a:solidFill>
                  <a:srgbClr val="FFFFFF"/>
                </a:solidFill>
                <a:latin typeface="Inter" pitchFamily="34" charset="0"/>
                <a:ea typeface="Inter" pitchFamily="34" charset="-122"/>
                <a:cs typeface="Inter" pitchFamily="34" charset="-120"/>
              </a:rPr>
              <a:t>27,981 of 43,425 listed groups had never been scraped, so searches could not find them.</a:t>
            </a:r>
            <a:endParaRPr lang="en-US" sz="2250" dirty="0"/>
          </a:p>
        </p:txBody>
      </p:sp>
      <p:pic>
        <p:nvPicPr>
          <p:cNvPr id="6" name="Image 0" descr="/Users/hugh/repos/meetup-map/demo/out/before-search-1.png">    </p:cNvPr>
          <p:cNvPicPr>
            <a:picLocks noChangeAspect="1"/>
          </p:cNvPicPr>
          <p:nvPr/>
        </p:nvPicPr>
        <p:blipFill>
          <a:blip r:embed="rId2"/>
          <a:stretch>
            <a:fillRect/>
          </a:stretch>
        </p:blipFill>
        <p:spPr>
          <a:xfrm>
            <a:off x="5588000" y="1587500"/>
            <a:ext cx="5715000" cy="3568700"/>
          </a:xfrm>
          <a:prstGeom prst="rect">
            <a:avLst/>
          </a:prstGeom>
        </p:spPr>
      </p:pic>
      <p:sp>
        <p:nvSpPr>
          <p:cNvPr id="7" name="Text 4"/>
          <p:cNvSpPr txBox="1"/>
          <p:nvPr/>
        </p:nvSpPr>
        <p:spPr>
          <a:xfrm>
            <a:off x="5588000" y="5283200"/>
            <a:ext cx="5715000" cy="228600"/>
          </a:xfrm>
          <a:prstGeom prst="rect">
            <a:avLst/>
          </a:prstGeom>
          <a:noFill/>
          <a:ln/>
        </p:spPr>
        <p:txBody>
          <a:bodyPr wrap="square" lIns="0" tIns="0" rIns="0" bIns="0" rtlCol="0" anchor="t"/>
          <a:lstStyle/>
          <a:p>
            <a:pPr indent="0" marL="0">
              <a:buNone/>
            </a:pPr>
            <a:r>
              <a:rPr lang="en-US" sz="1650" b="1" dirty="0">
                <a:solidFill>
                  <a:srgbClr val="FFFFFF"/>
                </a:solidFill>
                <a:latin typeface="Inter" pitchFamily="34" charset="0"/>
                <a:ea typeface="Inter" pitchFamily="34" charset="-122"/>
                <a:cs typeface="Inter" pitchFamily="34" charset="-120"/>
              </a:rPr>
              <a:t>Before: </a:t>
            </a:r>
            <a:pPr indent="0" marL="0">
              <a:buNone/>
            </a:pPr>
            <a:r>
              <a:rPr lang="en-US" sz="1650" dirty="0">
                <a:solidFill>
                  <a:srgbClr val="8D9098"/>
                </a:solidFill>
                <a:latin typeface="Inter" pitchFamily="34" charset="0"/>
                <a:ea typeface="Inter" pitchFamily="34" charset="-122"/>
                <a:cs typeface="Inter" pitchFamily="34" charset="-120"/>
              </a:rPr>
              <a:t>15,442 groups indexed. "kafka" found 13.</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SCRIPT</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A SCRIPT FOUND THE GAP</a:t>
            </a:r>
            <a:endParaRPr lang="en-US" sz="4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35000" y="1587500"/>
            <a:ext cx="6604000" cy="3714750"/>
          </a:xfrm>
          <a:prstGeom prst="rect">
            <a:avLst/>
          </a:prstGeom>
        </p:spPr>
      </p:pic>
      <p:sp>
        <p:nvSpPr>
          <p:cNvPr id="5" name="Text 2"/>
          <p:cNvSpPr txBox="1"/>
          <p:nvPr/>
        </p:nvSpPr>
        <p:spPr>
          <a:xfrm>
            <a:off x="635000" y="5429250"/>
            <a:ext cx="6604000" cy="228600"/>
          </a:xfrm>
          <a:prstGeom prst="rect">
            <a:avLst/>
          </a:prstGeom>
          <a:noFill/>
          <a:ln/>
        </p:spPr>
        <p:txBody>
          <a:bodyPr wrap="square" lIns="0" tIns="0" rIns="0" bIns="0" rtlCol="0" anchor="t"/>
          <a:lstStyle/>
          <a:p>
            <a:pPr indent="0" marL="0">
              <a:buNone/>
            </a:pPr>
            <a:r>
              <a:rPr lang="en-US" sz="1650" dirty="0">
                <a:solidFill>
                  <a:srgbClr val="8D9098"/>
                </a:solidFill>
                <a:latin typeface="Inter" pitchFamily="34" charset="0"/>
                <a:ea typeface="Inter" pitchFamily="34" charset="-122"/>
                <a:cs typeface="Inter" pitchFamily="34" charset="-120"/>
              </a:rPr>
              <a:t>Compare the group list with the index. No model needed.</a:t>
            </a:r>
            <a:endParaRPr lang="en-US" sz="1650" dirty="0"/>
          </a:p>
        </p:txBody>
      </p:sp>
      <p:sp>
        <p:nvSpPr>
          <p:cNvPr id="6" name="Text 3"/>
          <p:cNvSpPr txBox="1"/>
          <p:nvPr/>
        </p:nvSpPr>
        <p:spPr>
          <a:xfrm>
            <a:off x="7747000" y="1587500"/>
            <a:ext cx="3810000" cy="904875"/>
          </a:xfrm>
          <a:prstGeom prst="rect">
            <a:avLst/>
          </a:prstGeom>
          <a:noFill/>
          <a:ln/>
        </p:spPr>
        <p:txBody>
          <a:bodyPr wrap="square" lIns="0" tIns="0" rIns="0" bIns="0" rtlCol="0" anchor="t"/>
          <a:lstStyle/>
          <a:p>
            <a:pPr indent="0" marL="0">
              <a:buNone/>
            </a:pPr>
            <a:r>
              <a:rPr lang="en-US" sz="11250" dirty="0">
                <a:solidFill>
                  <a:srgbClr val="5FFA74"/>
                </a:solidFill>
                <a:latin typeface="Funnel Display ExtraBold" pitchFamily="34" charset="0"/>
                <a:ea typeface="Funnel Display ExtraBold" pitchFamily="34" charset="-122"/>
                <a:cs typeface="Funnel Display ExtraBold" pitchFamily="34" charset="-120"/>
              </a:rPr>
              <a:t>0.1S</a:t>
            </a:r>
            <a:endParaRPr lang="en-US" sz="11250" dirty="0"/>
          </a:p>
        </p:txBody>
      </p:sp>
      <p:sp>
        <p:nvSpPr>
          <p:cNvPr id="7" name="Text 4"/>
          <p:cNvSpPr txBox="1"/>
          <p:nvPr/>
        </p:nvSpPr>
        <p:spPr>
          <a:xfrm>
            <a:off x="7747000" y="2647950"/>
            <a:ext cx="3810000" cy="1270000"/>
          </a:xfrm>
          <a:prstGeom prst="rect">
            <a:avLst/>
          </a:prstGeom>
          <a:noFill/>
          <a:ln/>
        </p:spPr>
        <p:txBody>
          <a:bodyPr wrap="square" lIns="0" tIns="0" rIns="0" bIns="0" rtlCol="0" anchor="t"/>
          <a:lstStyle/>
          <a:p>
            <a:pPr indent="0" marL="0">
              <a:buNone/>
            </a:pPr>
            <a:r>
              <a:rPr lang="en-US" sz="2100" dirty="0">
                <a:solidFill>
                  <a:srgbClr val="FFFFFF"/>
                </a:solidFill>
                <a:latin typeface="Inter" pitchFamily="34" charset="0"/>
                <a:ea typeface="Inter" pitchFamily="34" charset="-122"/>
                <a:cs typeface="Inter" pitchFamily="34" charset="-120"/>
              </a:rPr>
              <a:t>0 tokens. Same answer on the thousandth run.</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AGENT</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WHERE AN AGENT EARNS ITS KEEP</a:t>
            </a:r>
            <a:endParaRPr lang="en-US" sz="4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35000" y="1587500"/>
            <a:ext cx="6604000" cy="3714750"/>
          </a:xfrm>
          <a:prstGeom prst="rect">
            <a:avLst/>
          </a:prstGeom>
        </p:spPr>
      </p:pic>
      <p:sp>
        <p:nvSpPr>
          <p:cNvPr id="5" name="Text 2"/>
          <p:cNvSpPr txBox="1"/>
          <p:nvPr/>
        </p:nvSpPr>
        <p:spPr>
          <a:xfrm>
            <a:off x="635000" y="5429250"/>
            <a:ext cx="6604000" cy="228600"/>
          </a:xfrm>
          <a:prstGeom prst="rect">
            <a:avLst/>
          </a:prstGeom>
          <a:noFill/>
          <a:ln/>
        </p:spPr>
        <p:txBody>
          <a:bodyPr wrap="square" lIns="0" tIns="0" rIns="0" bIns="0" rtlCol="0" anchor="t"/>
          <a:lstStyle/>
          <a:p>
            <a:pPr indent="0" marL="0">
              <a:buNone/>
            </a:pPr>
            <a:r>
              <a:rPr lang="en-US" sz="1650" dirty="0">
                <a:solidFill>
                  <a:srgbClr val="8D9098"/>
                </a:solidFill>
                <a:latin typeface="Inter" pitchFamily="34" charset="0"/>
                <a:ea typeface="Inter" pitchFamily="34" charset="-122"/>
                <a:cs typeface="Inter" pitchFamily="34" charset="-120"/>
              </a:rPr>
              <a:t>The one step that needs judgement: which groups first?</a:t>
            </a:r>
            <a:endParaRPr lang="en-US" sz="1650" dirty="0"/>
          </a:p>
        </p:txBody>
      </p:sp>
      <p:sp>
        <p:nvSpPr>
          <p:cNvPr id="6" name="Text 3"/>
          <p:cNvSpPr txBox="1"/>
          <p:nvPr/>
        </p:nvSpPr>
        <p:spPr>
          <a:xfrm>
            <a:off x="7747000" y="1587500"/>
            <a:ext cx="3810000" cy="904875"/>
          </a:xfrm>
          <a:prstGeom prst="rect">
            <a:avLst/>
          </a:prstGeom>
          <a:noFill/>
          <a:ln/>
        </p:spPr>
        <p:txBody>
          <a:bodyPr wrap="square" lIns="0" tIns="0" rIns="0" bIns="0" rtlCol="0" anchor="t"/>
          <a:lstStyle/>
          <a:p>
            <a:pPr indent="0" marL="0">
              <a:buNone/>
            </a:pPr>
            <a:r>
              <a:rPr lang="en-US" sz="11250" dirty="0">
                <a:solidFill>
                  <a:srgbClr val="5FFA74"/>
                </a:solidFill>
                <a:latin typeface="Funnel Display ExtraBold" pitchFamily="34" charset="0"/>
                <a:ea typeface="Funnel Display ExtraBold" pitchFamily="34" charset="-122"/>
                <a:cs typeface="Funnel Display ExtraBold" pitchFamily="34" charset="-120"/>
              </a:rPr>
              <a:t>$0.07</a:t>
            </a:r>
            <a:endParaRPr lang="en-US" sz="11250" dirty="0"/>
          </a:p>
        </p:txBody>
      </p:sp>
      <p:sp>
        <p:nvSpPr>
          <p:cNvPr id="7" name="Text 4"/>
          <p:cNvSpPr txBox="1"/>
          <p:nvPr/>
        </p:nvSpPr>
        <p:spPr>
          <a:xfrm>
            <a:off x="7747000" y="2647950"/>
            <a:ext cx="3810000" cy="1270000"/>
          </a:xfrm>
          <a:prstGeom prst="rect">
            <a:avLst/>
          </a:prstGeom>
          <a:noFill/>
          <a:ln/>
        </p:spPr>
        <p:txBody>
          <a:bodyPr wrap="square" lIns="0" tIns="0" rIns="0" bIns="0" rtlCol="0" anchor="t"/>
          <a:lstStyle/>
          <a:p>
            <a:pPr indent="0" marL="0">
              <a:buNone/>
            </a:pPr>
            <a:r>
              <a:rPr lang="en-US" sz="2100" dirty="0">
                <a:solidFill>
                  <a:srgbClr val="FFFFFF"/>
                </a:solidFill>
                <a:latin typeface="Inter" pitchFamily="34" charset="0"/>
                <a:ea typeface="Inter" pitchFamily="34" charset="-122"/>
                <a:cs typeface="Inter" pitchFamily="34" charset="-120"/>
              </a:rPr>
              <a:t>25 groups triaged. Two tools, one job, read-only.</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HAND-OFF</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THEN A SCRIPT ACTS ON THE ANSWER</a:t>
            </a:r>
            <a:endParaRPr lang="en-US" sz="4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35000" y="1587500"/>
            <a:ext cx="6604000" cy="3714750"/>
          </a:xfrm>
          <a:prstGeom prst="rect">
            <a:avLst/>
          </a:prstGeom>
        </p:spPr>
      </p:pic>
      <p:sp>
        <p:nvSpPr>
          <p:cNvPr id="5" name="Text 2"/>
          <p:cNvSpPr txBox="1"/>
          <p:nvPr/>
        </p:nvSpPr>
        <p:spPr>
          <a:xfrm>
            <a:off x="635000" y="5429250"/>
            <a:ext cx="6604000" cy="228600"/>
          </a:xfrm>
          <a:prstGeom prst="rect">
            <a:avLst/>
          </a:prstGeom>
          <a:noFill/>
          <a:ln/>
        </p:spPr>
        <p:txBody>
          <a:bodyPr wrap="square" lIns="0" tIns="0" rIns="0" bIns="0" rtlCol="0" anchor="t"/>
          <a:lstStyle/>
          <a:p>
            <a:pPr indent="0" marL="0">
              <a:buNone/>
            </a:pPr>
            <a:r>
              <a:rPr lang="en-US" sz="1650" dirty="0">
                <a:solidFill>
                  <a:srgbClr val="8D9098"/>
                </a:solidFill>
                <a:latin typeface="Inter" pitchFamily="34" charset="0"/>
                <a:ea typeface="Inter" pitchFamily="34" charset="-122"/>
                <a:cs typeface="Inter" pitchFamily="34" charset="-120"/>
              </a:rPr>
              <a:t>The agent returns a list. A script builds the queue.</a:t>
            </a:r>
            <a:endParaRPr lang="en-US" sz="1650" dirty="0"/>
          </a:p>
        </p:txBody>
      </p:sp>
      <p:sp>
        <p:nvSpPr>
          <p:cNvPr id="6" name="Text 3"/>
          <p:cNvSpPr txBox="1"/>
          <p:nvPr/>
        </p:nvSpPr>
        <p:spPr>
          <a:xfrm>
            <a:off x="7747000" y="1587500"/>
            <a:ext cx="3810000" cy="663575"/>
          </a:xfrm>
          <a:prstGeom prst="rect">
            <a:avLst/>
          </a:prstGeom>
          <a:noFill/>
          <a:ln/>
        </p:spPr>
        <p:txBody>
          <a:bodyPr wrap="square" lIns="0" tIns="0" rIns="0" bIns="0" rtlCol="0" anchor="t"/>
          <a:lstStyle/>
          <a:p>
            <a:pPr indent="0" marL="0">
              <a:buNone/>
            </a:pPr>
            <a:r>
              <a:rPr lang="en-US" sz="8250" dirty="0">
                <a:solidFill>
                  <a:srgbClr val="5FFA74"/>
                </a:solidFill>
                <a:latin typeface="Funnel Display ExtraBold" pitchFamily="34" charset="0"/>
                <a:ea typeface="Funnel Display ExtraBold" pitchFamily="34" charset="-122"/>
                <a:cs typeface="Funnel Display ExtraBold" pitchFamily="34" charset="-120"/>
              </a:rPr>
              <a:t>4 OF 25</a:t>
            </a:r>
            <a:endParaRPr lang="en-US" sz="8250" dirty="0"/>
          </a:p>
        </p:txBody>
      </p:sp>
      <p:sp>
        <p:nvSpPr>
          <p:cNvPr id="7" name="Text 4"/>
          <p:cNvSpPr txBox="1"/>
          <p:nvPr/>
        </p:nvSpPr>
        <p:spPr>
          <a:xfrm>
            <a:off x="7747000" y="2419350"/>
            <a:ext cx="3810000" cy="1270000"/>
          </a:xfrm>
          <a:prstGeom prst="rect">
            <a:avLst/>
          </a:prstGeom>
          <a:noFill/>
          <a:ln/>
        </p:spPr>
        <p:txBody>
          <a:bodyPr wrap="square" lIns="0" tIns="0" rIns="0" bIns="0" rtlCol="0" anchor="t"/>
          <a:lstStyle/>
          <a:p>
            <a:pPr indent="0" marL="0">
              <a:buNone/>
            </a:pPr>
            <a:r>
              <a:rPr lang="en-US" sz="2100" dirty="0">
                <a:solidFill>
                  <a:srgbClr val="FFFFFF"/>
                </a:solidFill>
                <a:latin typeface="Inter" pitchFamily="34" charset="0"/>
                <a:ea typeface="Inter" pitchFamily="34" charset="-122"/>
                <a:cs typeface="Inter" pitchFamily="34" charset="-120"/>
              </a:rPr>
              <a:t>moved to the front of the queue. The agent decides. Code does the work.</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COST</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WHAT IT COSTS, BY HOW OFTEN YOU ASK</a:t>
            </a:r>
            <a:endParaRPr lang="en-US" sz="4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35000" y="1587500"/>
          <a:ext cx="10922000" cy="914400"/>
        </p:xfrm>
        <a:graphic>
          <a:graphicData uri="http://schemas.openxmlformats.org/drawingml/2006/table">
            <a:tbl>
              <a:tblPr/>
              <a:tblGrid>
                <a:gridCol w="5461000"/>
                <a:gridCol w="2730500"/>
                <a:gridCol w="2730500"/>
              </a:tblGrid>
              <a:tr h="444500">
                <a:tc>
                  <a:txBody>
                    <a:bodyPr/>
                    <a:lstStyle/>
                    <a:p>
                      <a:pPr indent="0" marL="0">
                        <a:buNone/>
                      </a:pPr>
                      <a:r>
                        <a:rPr lang="en-US" sz="1350" dirty="0">
                          <a:solidFill>
                            <a:srgbClr val="5FFA74"/>
                          </a:solidFill>
                          <a:latin typeface="Geist Mono" pitchFamily="34" charset="0"/>
                          <a:ea typeface="Geist Mono" pitchFamily="34" charset="-122"/>
                          <a:cs typeface="Geist Mono" pitchFamily="34" charset="-120"/>
                        </a:rPr>
                        <a:t>CADENCE</a:t>
                      </a:r>
                      <a:endParaRPr lang="en-US" sz="1350" dirty="0">
                        <a:latin typeface="Geist Mono" charset="0"/>
                        <a:ea typeface="Geist Mono" charset="0"/>
                        <a:cs typeface="Geist Mono"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350" dirty="0">
                          <a:solidFill>
                            <a:srgbClr val="5FFA74"/>
                          </a:solidFill>
                          <a:latin typeface="Geist Mono" pitchFamily="34" charset="0"/>
                          <a:ea typeface="Geist Mono" pitchFamily="34" charset="-122"/>
                          <a:cs typeface="Geist Mono" pitchFamily="34" charset="-120"/>
                        </a:rPr>
                        <a:t>AGENT TRIAGE</a:t>
                      </a:r>
                      <a:endParaRPr lang="en-US" sz="1350" dirty="0">
                        <a:latin typeface="Geist Mono" charset="0"/>
                        <a:ea typeface="Geist Mono" charset="0"/>
                        <a:cs typeface="Geist Mono"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350" dirty="0">
                          <a:solidFill>
                            <a:srgbClr val="5FFA74"/>
                          </a:solidFill>
                          <a:latin typeface="Geist Mono" pitchFamily="34" charset="0"/>
                          <a:ea typeface="Geist Mono" pitchFamily="34" charset="-122"/>
                          <a:cs typeface="Geist Mono" pitchFamily="34" charset="-120"/>
                        </a:rPr>
                        <a:t>SCRIPT</a:t>
                      </a:r>
                      <a:endParaRPr lang="en-US" sz="1350" dirty="0">
                        <a:latin typeface="Geist Mono" charset="0"/>
                        <a:ea typeface="Geist Mono" charset="0"/>
                        <a:cs typeface="Geist Mono"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r>
              <a:tr h="444500">
                <a:tc>
                  <a:txBody>
                    <a:bodyPr/>
                    <a:lstStyle/>
                    <a:p>
                      <a:pPr indent="0" marL="0">
                        <a:buNone/>
                      </a:pPr>
                      <a:r>
                        <a:rPr lang="en-US" sz="1500" b="1" dirty="0">
                          <a:solidFill>
                            <a:srgbClr val="FFFFFF"/>
                          </a:solidFill>
                          <a:latin typeface="Inter" pitchFamily="34" charset="0"/>
                          <a:ea typeface="Inter" pitchFamily="34" charset="-122"/>
                          <a:cs typeface="Inter" pitchFamily="34" charset="-120"/>
                        </a:rPr>
                        <a:t>Once, 25 groups</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$0.07</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$0</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r>
              <a:tr h="444500">
                <a:tc>
                  <a:txBody>
                    <a:bodyPr/>
                    <a:lstStyle/>
                    <a:p>
                      <a:pPr indent="0" marL="0">
                        <a:buNone/>
                      </a:pPr>
                      <a:r>
                        <a:rPr lang="en-US" sz="1500" b="1" dirty="0">
                          <a:solidFill>
                            <a:srgbClr val="FFFFFF"/>
                          </a:solidFill>
                          <a:latin typeface="Inter" pitchFamily="34" charset="0"/>
                          <a:ea typeface="Inter" pitchFamily="34" charset="-122"/>
                          <a:cs typeface="Inter" pitchFamily="34" charset="-120"/>
                        </a:rPr>
                        <a:t>1,000 runs of 25</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about $74</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$0</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r>
              <a:tr h="444500">
                <a:tc>
                  <a:txBody>
                    <a:bodyPr/>
                    <a:lstStyle/>
                    <a:p>
                      <a:pPr indent="0" marL="0">
                        <a:buNone/>
                      </a:pPr>
                      <a:r>
                        <a:rPr lang="en-US" sz="1500" b="1" dirty="0">
                          <a:solidFill>
                            <a:srgbClr val="FFFFFF"/>
                          </a:solidFill>
                          <a:latin typeface="Inter" pitchFamily="34" charset="0"/>
                          <a:ea typeface="Inter" pitchFamily="34" charset="-122"/>
                          <a:cs typeface="Inter" pitchFamily="34" charset="-120"/>
                        </a:rPr>
                        <a:t>Whole backlog, 27,981 groups</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about $82</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c>
                  <a:txBody>
                    <a:bodyPr/>
                    <a:lstStyle/>
                    <a:p>
                      <a:pPr indent="0" marL="0">
                        <a:buNone/>
                      </a:pPr>
                      <a:r>
                        <a:rPr lang="en-US" sz="1500" dirty="0">
                          <a:solidFill>
                            <a:srgbClr val="DADBDE"/>
                          </a:solidFill>
                          <a:latin typeface="Inter" pitchFamily="34" charset="0"/>
                          <a:ea typeface="Inter" pitchFamily="34" charset="-122"/>
                          <a:cs typeface="Inter" pitchFamily="34" charset="-120"/>
                        </a:rPr>
                        <a:t>$0</a:t>
                      </a:r>
                      <a:endParaRPr lang="en-US" sz="1500" dirty="0">
                        <a:latin typeface="Inter" charset="0"/>
                        <a:ea typeface="Inter" charset="0"/>
                        <a:cs typeface="Inter" charset="0"/>
                      </a:endParaRPr>
                    </a:p>
                  </a:txBody>
                  <a:tcPr marL="155448" marR="155448" marT="128016" marB="128016" anchor="ctr">
                    <a:lnL w="9525" cap="flat" cmpd="sng" algn="ctr">
                      <a:solidFill>
                        <a:srgbClr val="22252D"/>
                      </a:solidFill>
                      <a:prstDash val="solid"/>
                      <a:round/>
                      <a:headEnd type="none" w="med" len="med"/>
                      <a:tailEnd type="none" w="med" len="med"/>
                    </a:lnL>
                    <a:lnR w="9525" cap="flat" cmpd="sng" algn="ctr">
                      <a:solidFill>
                        <a:srgbClr val="22252D"/>
                      </a:solidFill>
                      <a:prstDash val="solid"/>
                      <a:round/>
                      <a:headEnd type="none" w="med" len="med"/>
                      <a:tailEnd type="none" w="med" len="med"/>
                    </a:lnR>
                    <a:lnT w="9525" cap="flat" cmpd="sng" algn="ctr">
                      <a:solidFill>
                        <a:srgbClr val="22252D"/>
                      </a:solidFill>
                      <a:prstDash val="solid"/>
                      <a:round/>
                      <a:headEnd type="none" w="med" len="med"/>
                      <a:tailEnd type="none" w="med" len="med"/>
                    </a:lnT>
                    <a:lnB w="9525" cap="flat" cmpd="sng" algn="ctr">
                      <a:solidFill>
                        <a:srgbClr val="22252D"/>
                      </a:solidFill>
                      <a:prstDash val="solid"/>
                      <a:round/>
                      <a:headEnd type="none" w="med" len="med"/>
                      <a:tailEnd type="none" w="med" len="med"/>
                    </a:lnB>
                    <a:solidFill>
                      <a:srgbClr val="1D1D1F"/>
                    </a:solidFill>
                  </a:tcPr>
                </a:tc>
              </a:tr>
            </a:tbl>
          </a:graphicData>
        </a:graphic>
      </p:graphicFrame>
      <p:sp>
        <p:nvSpPr>
          <p:cNvPr id="5" name="Text 2"/>
          <p:cNvSpPr txBox="1"/>
          <p:nvPr/>
        </p:nvSpPr>
        <p:spPr>
          <a:xfrm>
            <a:off x="635000" y="3683000"/>
            <a:ext cx="10922000" cy="228600"/>
          </a:xfrm>
          <a:prstGeom prst="rect">
            <a:avLst/>
          </a:prstGeom>
          <a:noFill/>
          <a:ln/>
        </p:spPr>
        <p:txBody>
          <a:bodyPr wrap="square" lIns="0" tIns="0" rIns="0" bIns="0" rtlCol="0" anchor="t"/>
          <a:lstStyle/>
          <a:p>
            <a:pPr indent="0" marL="0">
              <a:buNone/>
            </a:pPr>
            <a:r>
              <a:rPr lang="en-US" sz="1650" dirty="0">
                <a:solidFill>
                  <a:srgbClr val="8D9098"/>
                </a:solidFill>
                <a:latin typeface="Inter" pitchFamily="34" charset="0"/>
                <a:ea typeface="Inter" pitchFamily="34" charset="-122"/>
                <a:cs typeface="Inter" pitchFamily="34" charset="-120"/>
              </a:rPr>
              <a:t>Haiku 4.5 list price, measured on 25 groups and extrapolated. The Aiven AI gateway meters the exact figure per key.</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DEPLOYED ON AIVEN</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17K TO 42K GROUPS IN 24 HOURS</a:t>
            </a:r>
            <a:endParaRPr lang="en-US" sz="4200" dirty="0"/>
          </a:p>
        </p:txBody>
      </p:sp>
      <p:graphicFrame>
        <p:nvGraphicFramePr>
          <p:cNvPr id="4" name="Chart 0" descr=""/>
          <p:cNvGraphicFramePr/>
          <p:nvPr/>
        </p:nvGraphicFramePr>
        <p:xfrm>
          <a:off x="635000" y="1435100"/>
          <a:ext cx="10922000" cy="3302000"/>
        </p:xfrm>
        <a:graphic xmlns:a="http://schemas.openxmlformats.org/drawingml/2006/main">
          <a:graphicData uri="http://schemas.openxmlformats.org/drawingml/2006/chart">
            <c:chart xmlns:c="http://schemas.openxmlformats.org/drawingml/2006/chart" r:id="rId2"/>
          </a:graphicData>
        </a:graphic>
      </p:graphicFrame>
      <p:sp>
        <p:nvSpPr>
          <p:cNvPr id="5" name="Text 2"/>
          <p:cNvSpPr txBox="1"/>
          <p:nvPr/>
        </p:nvSpPr>
        <p:spPr>
          <a:xfrm>
            <a:off x="635000" y="4813300"/>
            <a:ext cx="10922000" cy="228600"/>
          </a:xfrm>
          <a:prstGeom prst="rect">
            <a:avLst/>
          </a:prstGeom>
          <a:noFill/>
          <a:ln/>
        </p:spPr>
        <p:txBody>
          <a:bodyPr wrap="square" lIns="0" tIns="0" rIns="0" bIns="0" rtlCol="0" anchor="t"/>
          <a:lstStyle/>
          <a:p>
            <a:pPr indent="0" marL="0">
              <a:buNone/>
            </a:pPr>
            <a:r>
              <a:rPr lang="en-US" sz="1650" dirty="0">
                <a:solidFill>
                  <a:srgbClr val="8D9098"/>
                </a:solidFill>
                <a:latin typeface="Inter" pitchFamily="34" charset="0"/>
                <a:ea typeface="Inter" pitchFamily="34" charset="-122"/>
                <a:cs typeface="Inter" pitchFamily="34" charset="-120"/>
              </a:rPr>
              <a:t>New groups scraped per hour (UTC), 7 Oct 11:00 to 8 Oct 09:00. Steady at about 1,150 an hour.</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RESULT</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SAME SEARCH, 2.6X MORE GROUPS</a:t>
            </a:r>
            <a:endParaRPr lang="en-US" sz="4200" dirty="0"/>
          </a:p>
        </p:txBody>
      </p:sp>
      <p:pic>
        <p:nvPicPr>
          <p:cNvPr id="4" name="Image 0" descr="/Users/hugh/repos/meetup-map/demo/out/before-search-3.png">    </p:cNvPr>
          <p:cNvPicPr>
            <a:picLocks noChangeAspect="1"/>
          </p:cNvPicPr>
          <p:nvPr/>
        </p:nvPicPr>
        <p:blipFill>
          <a:blip r:embed="rId2"/>
          <a:stretch>
            <a:fillRect/>
          </a:stretch>
        </p:blipFill>
        <p:spPr>
          <a:xfrm>
            <a:off x="635000" y="1587500"/>
            <a:ext cx="5270500" cy="3295650"/>
          </a:xfrm>
          <a:prstGeom prst="rect">
            <a:avLst/>
          </a:prstGeom>
        </p:spPr>
      </p:pic>
      <p:pic>
        <p:nvPicPr>
          <p:cNvPr id="5" name="Image 1" descr="/Users/hugh/repos/meetup-map/demo/out/after-search-3.png">    </p:cNvPr>
          <p:cNvPicPr>
            <a:picLocks noChangeAspect="1"/>
          </p:cNvPicPr>
          <p:nvPr/>
        </p:nvPicPr>
        <p:blipFill>
          <a:blip r:embed="rId3"/>
          <a:stretch>
            <a:fillRect/>
          </a:stretch>
        </p:blipFill>
        <p:spPr>
          <a:xfrm>
            <a:off x="6286500" y="1587500"/>
            <a:ext cx="5270500" cy="3295650"/>
          </a:xfrm>
          <a:prstGeom prst="rect">
            <a:avLst/>
          </a:prstGeom>
        </p:spPr>
      </p:pic>
      <p:sp>
        <p:nvSpPr>
          <p:cNvPr id="6" name="Text 2"/>
          <p:cNvSpPr txBox="1"/>
          <p:nvPr/>
        </p:nvSpPr>
        <p:spPr>
          <a:xfrm>
            <a:off x="635000" y="5010150"/>
            <a:ext cx="5270500" cy="381000"/>
          </a:xfrm>
          <a:prstGeom prst="rect">
            <a:avLst/>
          </a:prstGeom>
          <a:noFill/>
          <a:ln/>
        </p:spPr>
        <p:txBody>
          <a:bodyPr wrap="square" lIns="0" tIns="0" rIns="0" bIns="0" rtlCol="0" anchor="t"/>
          <a:lstStyle/>
          <a:p>
            <a:pPr indent="0" marL="0">
              <a:buNone/>
            </a:pPr>
            <a:r>
              <a:rPr lang="en-US" sz="1650" b="1" dirty="0">
                <a:solidFill>
                  <a:srgbClr val="FFFFFF"/>
                </a:solidFill>
                <a:latin typeface="Inter" pitchFamily="34" charset="0"/>
                <a:ea typeface="Inter" pitchFamily="34" charset="-122"/>
                <a:cs typeface="Inter" pitchFamily="34" charset="-120"/>
              </a:rPr>
              <a:t>Before: </a:t>
            </a:r>
            <a:pPr indent="0" marL="0">
              <a:buNone/>
            </a:pPr>
            <a:r>
              <a:rPr lang="en-US" sz="1650" dirty="0">
                <a:solidFill>
                  <a:srgbClr val="8D9098"/>
                </a:solidFill>
                <a:latin typeface="Inter" pitchFamily="34" charset="0"/>
                <a:ea typeface="Inter" pitchFamily="34" charset="-122"/>
                <a:cs typeface="Inter" pitchFamily="34" charset="-120"/>
              </a:rPr>
              <a:t>15,442 groups. "data engineering": 10 results.</a:t>
            </a:r>
            <a:endParaRPr lang="en-US" sz="1650" dirty="0"/>
          </a:p>
        </p:txBody>
      </p:sp>
      <p:sp>
        <p:nvSpPr>
          <p:cNvPr id="7" name="Text 3"/>
          <p:cNvSpPr txBox="1"/>
          <p:nvPr/>
        </p:nvSpPr>
        <p:spPr>
          <a:xfrm>
            <a:off x="6286500" y="5010150"/>
            <a:ext cx="5270500" cy="381000"/>
          </a:xfrm>
          <a:prstGeom prst="rect">
            <a:avLst/>
          </a:prstGeom>
          <a:noFill/>
          <a:ln/>
        </p:spPr>
        <p:txBody>
          <a:bodyPr wrap="square" lIns="0" tIns="0" rIns="0" bIns="0" rtlCol="0" anchor="t"/>
          <a:lstStyle/>
          <a:p>
            <a:pPr indent="0" marL="0">
              <a:buNone/>
            </a:pPr>
            <a:r>
              <a:rPr lang="en-US" sz="1650" b="1" dirty="0">
                <a:solidFill>
                  <a:srgbClr val="5FFA74"/>
                </a:solidFill>
                <a:latin typeface="Inter" pitchFamily="34" charset="0"/>
                <a:ea typeface="Inter" pitchFamily="34" charset="-122"/>
                <a:cs typeface="Inter" pitchFamily="34" charset="-120"/>
              </a:rPr>
              <a:t>After: </a:t>
            </a:r>
            <a:pPr indent="0" marL="0">
              <a:buNone/>
            </a:pPr>
            <a:r>
              <a:rPr lang="en-US" sz="1650" dirty="0">
                <a:solidFill>
                  <a:srgbClr val="5FFA74"/>
                </a:solidFill>
                <a:latin typeface="Inter" pitchFamily="34" charset="0"/>
                <a:ea typeface="Inter" pitchFamily="34" charset="-122"/>
                <a:cs typeface="Inter" pitchFamily="34" charset="-120"/>
              </a:rPr>
              <a:t>40,550 groups. "data engineering": 33 results.</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35000" y="635000"/>
            <a:ext cx="10922000" cy="165100"/>
          </a:xfrm>
          <a:prstGeom prst="rect">
            <a:avLst/>
          </a:prstGeom>
          <a:noFill/>
          <a:ln/>
        </p:spPr>
        <p:txBody>
          <a:bodyPr wrap="square" lIns="0" tIns="0" rIns="0" bIns="0" rtlCol="0" anchor="t"/>
          <a:lstStyle/>
          <a:p>
            <a:pPr indent="0" marL="0">
              <a:buNone/>
            </a:pPr>
            <a:r>
              <a:rPr lang="en-US" sz="1350" spc="200" kern="0" dirty="0">
                <a:solidFill>
                  <a:srgbClr val="5FFA74"/>
                </a:solidFill>
                <a:latin typeface="Geist Mono" pitchFamily="34" charset="0"/>
                <a:ea typeface="Geist Mono" pitchFamily="34" charset="-122"/>
                <a:cs typeface="Geist Mono" pitchFamily="34" charset="-120"/>
              </a:rPr>
              <a:t>// THE HONEST BIT</a:t>
            </a:r>
            <a:endParaRPr lang="en-US" sz="1350" dirty="0"/>
          </a:p>
        </p:txBody>
      </p:sp>
      <p:sp>
        <p:nvSpPr>
          <p:cNvPr id="3" name="Text 1"/>
          <p:cNvSpPr txBox="1"/>
          <p:nvPr/>
        </p:nvSpPr>
        <p:spPr>
          <a:xfrm>
            <a:off x="635000" y="927100"/>
            <a:ext cx="10922000" cy="391160"/>
          </a:xfrm>
          <a:prstGeom prst="rect">
            <a:avLst/>
          </a:prstGeom>
          <a:noFill/>
          <a:ln/>
        </p:spPr>
        <p:txBody>
          <a:bodyPr wrap="square" lIns="0" tIns="0" rIns="0" bIns="0" rtlCol="0" anchor="t"/>
          <a:lstStyle/>
          <a:p>
            <a:pPr indent="0" marL="0">
              <a:buNone/>
            </a:pPr>
            <a:r>
              <a:rPr lang="en-US" sz="4200" dirty="0">
                <a:solidFill>
                  <a:srgbClr val="FFFFFF"/>
                </a:solidFill>
                <a:latin typeface="Funnel Display ExtraBold" pitchFamily="34" charset="0"/>
                <a:ea typeface="Funnel Display ExtraBold" pitchFamily="34" charset="-122"/>
                <a:cs typeface="Funnel Display ExtraBold" pitchFamily="34" charset="-120"/>
              </a:rPr>
              <a:t>WHAT WE DID NOT MEASURE</a:t>
            </a:r>
            <a:endParaRPr lang="en-US" sz="4200" dirty="0"/>
          </a:p>
        </p:txBody>
      </p:sp>
      <p:sp>
        <p:nvSpPr>
          <p:cNvPr id="4" name="Shape 2"/>
          <p:cNvSpPr/>
          <p:nvPr/>
        </p:nvSpPr>
        <p:spPr>
          <a:xfrm>
            <a:off x="635000" y="1587500"/>
            <a:ext cx="10922000" cy="698500"/>
          </a:xfrm>
          <a:prstGeom prst="rect">
            <a:avLst/>
          </a:prstGeom>
          <a:solidFill>
            <a:srgbClr val="1D1D1F"/>
          </a:solidFill>
          <a:ln/>
        </p:spPr>
      </p:sp>
      <p:sp>
        <p:nvSpPr>
          <p:cNvPr id="5" name="Shape 3"/>
          <p:cNvSpPr/>
          <p:nvPr/>
        </p:nvSpPr>
        <p:spPr>
          <a:xfrm>
            <a:off x="838200" y="1803400"/>
            <a:ext cx="63500" cy="63500"/>
          </a:xfrm>
          <a:prstGeom prst="ellipse">
            <a:avLst/>
          </a:prstGeom>
          <a:solidFill>
            <a:srgbClr val="5FFA74"/>
          </a:solidFill>
          <a:ln/>
        </p:spPr>
      </p:sp>
      <p:sp>
        <p:nvSpPr>
          <p:cNvPr id="6" name="Text 4"/>
          <p:cNvSpPr txBox="1"/>
          <p:nvPr/>
        </p:nvSpPr>
        <p:spPr>
          <a:xfrm>
            <a:off x="1549400" y="1739900"/>
            <a:ext cx="9525000" cy="20320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Quality of the agent's picks</a:t>
            </a:r>
            <a:endParaRPr lang="en-US" sz="1800" dirty="0"/>
          </a:p>
        </p:txBody>
      </p:sp>
      <p:sp>
        <p:nvSpPr>
          <p:cNvPr id="7" name="Text 5"/>
          <p:cNvSpPr txBox="1"/>
          <p:nvPr/>
        </p:nvSpPr>
        <p:spPr>
          <a:xfrm>
            <a:off x="1549400" y="1968500"/>
            <a:ext cx="9525000" cy="177800"/>
          </a:xfrm>
          <a:prstGeom prst="rect">
            <a:avLst/>
          </a:prstGeom>
          <a:noFill/>
          <a:ln/>
        </p:spPr>
        <p:txBody>
          <a:bodyPr wrap="square" lIns="0" tIns="0" rIns="0" bIns="0" rtlCol="0" anchor="t"/>
          <a:lstStyle/>
          <a:p>
            <a:pPr indent="0" marL="0">
              <a:buNone/>
            </a:pPr>
            <a:r>
              <a:rPr lang="en-US" sz="1350" dirty="0">
                <a:solidFill>
                  <a:srgbClr val="8D9098"/>
                </a:solidFill>
                <a:latin typeface="Inter" pitchFamily="34" charset="0"/>
                <a:ea typeface="Inter" pitchFamily="34" charset="-122"/>
                <a:cs typeface="Inter" pitchFamily="34" charset="-120"/>
              </a:rPr>
              <a:t>Unchecked. Treat the four priority 1 groups as examples, not a result.</a:t>
            </a:r>
            <a:endParaRPr lang="en-US" sz="1350" dirty="0"/>
          </a:p>
        </p:txBody>
      </p:sp>
      <p:sp>
        <p:nvSpPr>
          <p:cNvPr id="8" name="Shape 6"/>
          <p:cNvSpPr/>
          <p:nvPr/>
        </p:nvSpPr>
        <p:spPr>
          <a:xfrm>
            <a:off x="635000" y="2387600"/>
            <a:ext cx="10922000" cy="698500"/>
          </a:xfrm>
          <a:prstGeom prst="rect">
            <a:avLst/>
          </a:prstGeom>
          <a:solidFill>
            <a:srgbClr val="1D1D1F"/>
          </a:solidFill>
          <a:ln/>
        </p:spPr>
      </p:sp>
      <p:sp>
        <p:nvSpPr>
          <p:cNvPr id="9" name="Shape 7"/>
          <p:cNvSpPr/>
          <p:nvPr/>
        </p:nvSpPr>
        <p:spPr>
          <a:xfrm>
            <a:off x="838200" y="2603500"/>
            <a:ext cx="63500" cy="63500"/>
          </a:xfrm>
          <a:prstGeom prst="ellipse">
            <a:avLst/>
          </a:prstGeom>
          <a:solidFill>
            <a:srgbClr val="5FFA74"/>
          </a:solidFill>
          <a:ln/>
        </p:spPr>
      </p:sp>
      <p:sp>
        <p:nvSpPr>
          <p:cNvPr id="10" name="Text 8"/>
          <p:cNvSpPr txBox="1"/>
          <p:nvPr/>
        </p:nvSpPr>
        <p:spPr>
          <a:xfrm>
            <a:off x="1549400" y="2540000"/>
            <a:ext cx="9525000" cy="20320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Cost</a:t>
            </a:r>
            <a:endParaRPr lang="en-US" sz="1800" dirty="0"/>
          </a:p>
        </p:txBody>
      </p:sp>
      <p:sp>
        <p:nvSpPr>
          <p:cNvPr id="11" name="Text 9"/>
          <p:cNvSpPr txBox="1"/>
          <p:nvPr/>
        </p:nvSpPr>
        <p:spPr>
          <a:xfrm>
            <a:off x="1549400" y="2768600"/>
            <a:ext cx="9525000" cy="177800"/>
          </a:xfrm>
          <a:prstGeom prst="rect">
            <a:avLst/>
          </a:prstGeom>
          <a:noFill/>
          <a:ln/>
        </p:spPr>
        <p:txBody>
          <a:bodyPr wrap="square" lIns="0" tIns="0" rIns="0" bIns="0" rtlCol="0" anchor="t"/>
          <a:lstStyle/>
          <a:p>
            <a:pPr indent="0" marL="0">
              <a:buNone/>
            </a:pPr>
            <a:r>
              <a:rPr lang="en-US" sz="1350" dirty="0">
                <a:solidFill>
                  <a:srgbClr val="8D9098"/>
                </a:solidFill>
                <a:latin typeface="Inter" pitchFamily="34" charset="0"/>
                <a:ea typeface="Inter" pitchFamily="34" charset="-122"/>
                <a:cs typeface="Inter" pitchFamily="34" charset="-120"/>
              </a:rPr>
              <a:t>A 25-group sample at list price, extrapolated to the backlog.</a:t>
            </a:r>
            <a:endParaRPr lang="en-US" sz="1350" dirty="0"/>
          </a:p>
        </p:txBody>
      </p:sp>
      <p:sp>
        <p:nvSpPr>
          <p:cNvPr id="12" name="Shape 10"/>
          <p:cNvSpPr/>
          <p:nvPr/>
        </p:nvSpPr>
        <p:spPr>
          <a:xfrm>
            <a:off x="635000" y="3187700"/>
            <a:ext cx="10922000" cy="698500"/>
          </a:xfrm>
          <a:prstGeom prst="rect">
            <a:avLst/>
          </a:prstGeom>
          <a:solidFill>
            <a:srgbClr val="1D1D1F"/>
          </a:solidFill>
          <a:ln/>
        </p:spPr>
      </p:sp>
      <p:sp>
        <p:nvSpPr>
          <p:cNvPr id="13" name="Shape 11"/>
          <p:cNvSpPr/>
          <p:nvPr/>
        </p:nvSpPr>
        <p:spPr>
          <a:xfrm>
            <a:off x="838200" y="3403600"/>
            <a:ext cx="63500" cy="63500"/>
          </a:xfrm>
          <a:prstGeom prst="ellipse">
            <a:avLst/>
          </a:prstGeom>
          <a:solidFill>
            <a:srgbClr val="5FFA74"/>
          </a:solidFill>
          <a:ln/>
        </p:spPr>
      </p:sp>
      <p:sp>
        <p:nvSpPr>
          <p:cNvPr id="14" name="Text 12"/>
          <p:cNvSpPr txBox="1"/>
          <p:nvPr/>
        </p:nvSpPr>
        <p:spPr>
          <a:xfrm>
            <a:off x="1549400" y="3340100"/>
            <a:ext cx="9525000" cy="20320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Our first Luma fix</a:t>
            </a:r>
            <a:endParaRPr lang="en-US" sz="1800" dirty="0"/>
          </a:p>
        </p:txBody>
      </p:sp>
      <p:sp>
        <p:nvSpPr>
          <p:cNvPr id="15" name="Text 13"/>
          <p:cNvSpPr txBox="1"/>
          <p:nvPr/>
        </p:nvSpPr>
        <p:spPr>
          <a:xfrm>
            <a:off x="1549400" y="3568700"/>
            <a:ext cx="9525000" cy="177800"/>
          </a:xfrm>
          <a:prstGeom prst="rect">
            <a:avLst/>
          </a:prstGeom>
          <a:noFill/>
          <a:ln/>
        </p:spPr>
        <p:txBody>
          <a:bodyPr wrap="square" lIns="0" tIns="0" rIns="0" bIns="0" rtlCol="0" anchor="t"/>
          <a:lstStyle/>
          <a:p>
            <a:pPr indent="0" marL="0">
              <a:buNone/>
            </a:pPr>
            <a:r>
              <a:rPr lang="en-US" sz="1350" dirty="0">
                <a:solidFill>
                  <a:srgbClr val="8D9098"/>
                </a:solidFill>
                <a:latin typeface="Inter" pitchFamily="34" charset="0"/>
                <a:ea typeface="Inter" pitchFamily="34" charset="-122"/>
                <a:cs typeface="Inter" pitchFamily="34" charset="-120"/>
              </a:rPr>
              <a:t>It was wrong. We caught it by checking dates, not labels.</a:t>
            </a:r>
            <a:endParaRPr lang="en-US" sz="1350" dirty="0"/>
          </a:p>
        </p:txBody>
      </p:sp>
      <p:sp>
        <p:nvSpPr>
          <p:cNvPr id="16" name="Text 14"/>
          <p:cNvSpPr txBox="1"/>
          <p:nvPr/>
        </p:nvSpPr>
        <p:spPr>
          <a:xfrm>
            <a:off x="635000" y="4191000"/>
            <a:ext cx="10922000" cy="279400"/>
          </a:xfrm>
          <a:prstGeom prst="rect">
            <a:avLst/>
          </a:prstGeom>
          <a:noFill/>
          <a:ln/>
        </p:spPr>
        <p:txBody>
          <a:bodyPr wrap="square" lIns="0" tIns="0" rIns="0" bIns="0" rtlCol="0" anchor="t"/>
          <a:lstStyle/>
          <a:p>
            <a:pPr indent="0" marL="0">
              <a:buNone/>
            </a:pPr>
            <a:r>
              <a:rPr lang="en-US" sz="2250" b="1" dirty="0">
                <a:solidFill>
                  <a:srgbClr val="FFFFFF"/>
                </a:solidFill>
                <a:latin typeface="Inter" pitchFamily="34" charset="0"/>
                <a:ea typeface="Inter" pitchFamily="34" charset="-122"/>
                <a:cs typeface="Inter" pitchFamily="34" charset="-120"/>
              </a:rPr>
              <a:t>Measure cost + quality, or pay for retries.</a:t>
            </a:r>
            <a:endParaRPr lang="en-US" sz="2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Not Another Pizza</dc:title>
  <dc:subject>PptxGenJS Presentation</dc:subject>
  <dc:creator>Aiven</dc:creator>
  <cp:lastModifiedBy>Aiven</cp:lastModifiedBy>
  <cp:revision>1</cp:revision>
  <dcterms:created xsi:type="dcterms:W3CDTF">2026-10-09T11:00:33Z</dcterms:created>
  <dcterms:modified xsi:type="dcterms:W3CDTF">2026-10-09T11:00:33Z</dcterms:modified>
</cp:coreProperties>
</file>